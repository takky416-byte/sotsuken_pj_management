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2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2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Noto Sans JP"/>
              </a:rPr>
              <a:t>卒研PJ管理 操作マニュアル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Noto Sans JP"/>
              </a:rPr>
              <a:t>学生編 説明資料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503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F2FF"/>
                </a:solidFill>
                <a:latin typeface="Noto Sans JP"/>
              </a:rPr>
              <a:t>卒研の「予定」と「毎日の記録」を、チームで共有するためのアプリです。このマニュアルは、画面の写真と番号で、操作を説明します。写真のデータは、テスト用の架空のものです。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まずはこの4つ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これだけ覚えれば、使い始められます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201168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84FF"/>
                </a:solidFill>
                <a:latin typeface="Noto Sans JP"/>
              </a:rPr>
              <a:t>1. ホームを開く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4223A"/>
                </a:solidFill>
                <a:latin typeface="Noto Sans JP"/>
              </a:rPr>
              <a:t>今日やること・次にやることが分かります。先生からのメッセージも、ここに出ます。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201168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84FF"/>
                </a:solidFill>
                <a:latin typeface="Noto Sans JP"/>
              </a:rPr>
              <a:t>2. 授業日に作業ログを送信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6032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4223A"/>
                </a:solidFill>
                <a:latin typeface="Noto Sans JP"/>
              </a:rPr>
              <a:t>やったことを選んで、一言書いて「作業ログを送信」。1分ほどです。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394960" cy="201168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84FF"/>
                </a:solidFill>
                <a:latin typeface="Noto Sans JP"/>
              </a:rPr>
              <a:t>3. WBS・ガントチャートで予定を見る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4223A"/>
                </a:solidFill>
                <a:latin typeface="Noto Sans JP"/>
              </a:rPr>
              <a:t>チームの予定がひと目で分かります。直すときは「編集モードにする」。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394960" cy="201168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206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84FF"/>
                </a:solidFill>
                <a:latin typeface="Noto Sans JP"/>
              </a:rPr>
              <a:t>4. PJ分析からミーティング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84632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4223A"/>
                </a:solidFill>
                <a:latin typeface="Noto Sans JP"/>
              </a:rPr>
              <a:t>毎週10分の確認は、「ミーティングを始める」から始めます。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1. ログインと初回の案内 — ログイン画面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学校のGoogleアカウント(@trident.ac.jp)で入ります。LINEやメールのアプリ内ブラウザでは入れないことがあるので、SafariまたはChromeで開いてください。</a:t>
            </a:r>
          </a:p>
        </p:txBody>
      </p:sp>
      <p:pic>
        <p:nvPicPr>
          <p:cNvPr id="5" name="Picture 4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7355"/>
            <a:ext cx="7589520" cy="474345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830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「Googleでログイン」を押して、学校のアカウントを選びます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1. ログインと初回の案内 — 初回の案内</a:t>
            </a:r>
          </a:p>
        </p:txBody>
      </p:sp>
      <p:pic>
        <p:nvPicPr>
          <p:cNvPr id="4" name="Picture 3" descr="02-no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35" y="1005840"/>
            <a:ext cx="7555169" cy="5577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案内(先生が見られる内容など)を読んで、「確認して始める」を押します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2. はじめてのガイド — はじめてのガイド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初回は、画面の使い方を順に見られるガイドが出ます。あとからは、右上の「ガイド」でいつでも開けます(開いている画面に合わせた説明から始まります)。</a:t>
            </a:r>
          </a:p>
        </p:txBody>
      </p:sp>
      <p:pic>
        <p:nvPicPr>
          <p:cNvPr id="5" name="Picture 4" descr="03-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7355"/>
            <a:ext cx="7589520" cy="474345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830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「次へ →」で、画面の説明を順に見ます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269748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65176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「こんなとき」では、場面(詰まったとき、WBSにない作業をしたとき、など)からやり方を探せます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2. はじめてのガイド — ガイドの2枚目(ホーム)</a:t>
            </a:r>
          </a:p>
        </p:txBody>
      </p:sp>
      <p:pic>
        <p:nvPicPr>
          <p:cNvPr id="4" name="Picture 3" descr="04-guid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1005840"/>
            <a:ext cx="8924544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3. ホーム(まずここを見る) — ホーム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アプリを開いたら、まずホームを見ます。あいさつの下のボタン、今日やること、次にやること、先生からの連絡が、ここにまとまっています。</a:t>
            </a:r>
          </a:p>
        </p:txBody>
      </p:sp>
      <p:pic>
        <p:nvPicPr>
          <p:cNvPr id="5" name="Picture 4" descr="05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1554480"/>
            <a:ext cx="5149900" cy="5029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830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「成果物を提出」: 先生が決めた、成果物の提出先(Googleドライブ)が開きます。先生が設定したチームにだけ出ます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269748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65176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あいさつと、「作業ログを書く」のボタンです(書いたあとは「作業ログを見直す」になります)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3566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520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「今日やること」: 期限を過ぎたもの、進行中のもの、今が予定の期間のもの。ここから作業ログへ進めます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4434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389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「先生から〇チームへのメッセージ」: 先生がチームに送った、連絡です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530352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525780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「マイルストーンと企画」: 中間報告などの日程と、企画の記録です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3. ホーム(まずここを見る) — ホーム: 前回のミーティングの議事録</a:t>
            </a:r>
          </a:p>
        </p:txBody>
      </p:sp>
      <p:pic>
        <p:nvPicPr>
          <p:cNvPr id="4" name="Picture 3" descr="06a-home-min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45011"/>
            <a:ext cx="11430000" cy="44994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3. ホーム(まずここを見る) — ホームの下: チーム(ようす・今週のミッション・ありがとう)</a:t>
            </a:r>
          </a:p>
        </p:txBody>
      </p:sp>
      <p:pic>
        <p:nvPicPr>
          <p:cNvPr id="4" name="Picture 3" descr="06-home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27" y="1005840"/>
            <a:ext cx="9886065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3. ホーム(まずここを見る) — 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「次にやること」には、前回の作業ログで決めたことと、担当がいないタスク(「担当する」で自分のタスクにできます)が出ます。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ホームの下の「チーム」に、「チームの今週のミッション」「ありがとう」「チームのようす」がまとまっています(スマホでは、押すと開きます)。点数や順位ではなく、状況を見るための目安です。助けてもらったら、「ありがとう」のスタンプを送れ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先生がミーティングの議事録を公開すると、ホームに「前回のミーティングの議事録」が出ます(読むだけです。古い回は「これまでの議事録」から)。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4. 最初にやること: 初期WBSの見直し — ホームの「初期WBSの見直し」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キックオフのあと、ホームに「初期WBSの見直し」が出ます。先生が用意した叩き台は、「たとえば」の案です。キックオフの直後の授業で、チーム全員で時間をとって、1項目ずつ見て、削除・追加・修正をして、自分たちの計画として完成させます。</a:t>
            </a:r>
          </a:p>
        </p:txBody>
      </p:sp>
      <p:pic>
        <p:nvPicPr>
          <p:cNvPr id="5" name="Picture 4" descr="06b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27" y="1554480"/>
            <a:ext cx="6776185" cy="5029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830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案内です。叩き台の件数が出ます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269748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65176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やることは3つ: ① 全部の項目を読んで、計画を完成させる(要らない項目は削除、足りない項目は追加、言葉・内容・期間は修正) ② 担当を決める ③ 期間(いつからいつまで)を確かめる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3566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520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「編集モードでWBSを開く」: 担当が決まっていない項目があれば、その項目だけを表示します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4434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389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全部見たら、チェックを入れて「見直しを終えた」を押します(担当が決まっていない項目がなくなると押せます)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4. 最初にやること: 初期WBSの見直し — 編集モードのWBS(担当が決まっていない項目だけ)</a:t>
            </a:r>
          </a:p>
        </p:txBody>
      </p:sp>
      <p:pic>
        <p:nvPicPr>
          <p:cNvPr id="4" name="Picture 3" descr="06c-review-w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" y="1005840"/>
            <a:ext cx="7139635" cy="5577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編集が終わったら「編集モードを終える」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2148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103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「担当が決まっていない項目だけ」のチェックを外すと、全部の項目が見えます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4. 最初にやること: 初期WBSの見直し — 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叩き台は、そのままでは使いません。企画に合わない項目は削除、足りない項目は追加、言い方や期間は修正して、自分たちの計画として完成させます。迷ったときは、先生に聞きます。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担当は、行の「＋ 担当」を押して決めます(複数人でもかまいません)。期間は、はじめから入っています。自分たちの進め方に合わせて、ずれている所を直します。ハード(機材)の企画は、機材の選定(〜11/4)と機材購入リスト(11/5)の期間も、自分たちで確かめ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「見直しを終えた」を押すまで、ホームとWBSに案内が出続けます。押すと、先生の画面にも「見直し済み」と出ます。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5. 作業ログ(いちばん大切な操作) — 作業ログ(はじめ)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作業ログは、授業のときに書きます。授業時間外にやった作業も含めて、前回の作業ログのあとにやったことを、まとめて書きます。その日のうちなら、何度でも直せます。</a:t>
            </a:r>
          </a:p>
        </p:txBody>
      </p:sp>
      <p:pic>
        <p:nvPicPr>
          <p:cNvPr id="5" name="Picture 4" descr="07-daily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1554480"/>
            <a:ext cx="5149900" cy="5029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830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やったタスクのカード。右上の「詳細 ▾」で、そのタスクの詳細(やること・できあがり)を開閉できます。着手していないタスクなど、今日は作業していないタスクは、「今日は作業していない」を押すと、カードが消えます(「ほかのタスクを選ぶ」から選び直せます)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269748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65176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「つぎにやること」を書く欄です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5. 作業ログ(いちばん大切な操作) — 作業ログ(書いたところ)</a:t>
            </a:r>
          </a:p>
        </p:txBody>
      </p:sp>
      <p:pic>
        <p:nvPicPr>
          <p:cNvPr id="4" name="Picture 3" descr="08-daily-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133" y="1005840"/>
            <a:ext cx="5818773" cy="5577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結果を選びます(進んだ / 完了した / 詰まった)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2148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103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何を・どこまでやったかを、一言書きます(10字以上)</a:t>
            </a:r>
          </a:p>
        </p:txBody>
      </p:sp>
      <p:sp>
        <p:nvSpPr>
          <p:cNvPr id="9" name="Oval 8"/>
          <p:cNvSpPr/>
          <p:nvPr/>
        </p:nvSpPr>
        <p:spPr>
          <a:xfrm>
            <a:off x="8229600" y="301752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97180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「つぎにやること」を書きます(10字以上)。ホームの「次にやること」に出ます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0" y="38862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8404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「作業ログを送信」を押します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5. 作業ログ(いちばん大切な操作) — 送信したあと</a:t>
            </a:r>
          </a:p>
        </p:txBody>
      </p:sp>
      <p:pic>
        <p:nvPicPr>
          <p:cNvPr id="4" name="Picture 3" descr="09-daily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905" y="1005840"/>
            <a:ext cx="5711708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5. 作業ログ(いちばん大切な操作) — 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「何を・どこまでやったか」は、Markdown(箇条書き・太字・リンクなど)で書けます。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担当でないタスクは、「ほかのタスクを選ぶ」から選びます。WBSの順に並んでいて、文字を入れると絞り込めます。選んで提出すると、あなたもそのタスクの担当に加わります。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タスクを1つも選ばないと、送信できません。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「完了した」を選んで送信すると、タスクも完了になります。「詰まった」の内容は、ミーティングの「詰まっていること」に出ます。まず、チームの誰かに相談してください。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7665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WBSにない作業をしたときは「＋ WBSにない作業をした」を押して書きます。送信すると、WBSにタスクとして追加されます。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138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入力の途中は、この端末に自動で保存されます。日をまたぐと、その日の作業ログは直せません。欠席の扱いは、先生が入力します。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6. WBS・ガントチャート — WBS・ガントチャート(閲覧モード)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チームの予定(タスク)の一覧と、予定の期間の棒(ガントチャート)です。広い画面では、一覧の右に棒が並びます。</a:t>
            </a:r>
          </a:p>
        </p:txBody>
      </p:sp>
      <p:pic>
        <p:nvPicPr>
          <p:cNvPr id="5" name="Picture 4" descr="10-w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7355"/>
            <a:ext cx="7589520" cy="474345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830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ふだんは閲覧モードです。直すときは「編集モードにする」を押します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269748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65176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◆マイルストーン(中間報告など)の段です。見出しを押すと、閉じたり開いたりできます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3566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520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稲妻線: 今日の線より左は、予定の期間に入っているのに未着手のタスク、右は、予定より早く着手・完了したタスクです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4434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389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「ガントチャートを大きく」: 全体を大きく見たり、棒をドラッグして期間を直したりできます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6. WBS・ガントチャート — 編集モード</a:t>
            </a:r>
          </a:p>
        </p:txBody>
      </p:sp>
      <p:pic>
        <p:nvPicPr>
          <p:cNvPr id="4" name="Picture 3" descr="11-wbs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" y="1005840"/>
            <a:ext cx="7139635" cy="5577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編集が終わったら「編集モードを終える」を押します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2148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103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行の「担当」「期間」を押すと、その場で変えられます。タスクの追加は、いちばん下の入力欄に「ログイン画面を作る @〇〇 〜11/30」のように書いて Enter</a:t>
            </a:r>
          </a:p>
        </p:txBody>
      </p:sp>
      <p:sp>
        <p:nvSpPr>
          <p:cNvPr id="9" name="Oval 8"/>
          <p:cNvSpPr/>
          <p:nvPr/>
        </p:nvSpPr>
        <p:spPr>
          <a:xfrm>
            <a:off x="8229600" y="301752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97180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タスク名のすぐ右の「詳細」を押すと、詳しい内容を開けます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6. WBS・ガントチャート — タスクの詳細</a:t>
            </a:r>
          </a:p>
        </p:txBody>
      </p:sp>
      <p:pic>
        <p:nvPicPr>
          <p:cNvPr id="4" name="Picture 3" descr="11b-wbs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" y="1005840"/>
            <a:ext cx="7139635" cy="5577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開始日・終了日・担当・詳細(やること・できあがりの目安・メモ)を、直せます。階層の変更・並べ替え・削除もここからできます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6. WBS・ガントチャート — ガントチャートを大きく</a:t>
            </a:r>
          </a:p>
        </p:txBody>
      </p:sp>
      <p:pic>
        <p:nvPicPr>
          <p:cNvPr id="4" name="Picture 3" descr="12-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296" y="1005840"/>
            <a:ext cx="7932927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6. WBS・ガントチャート — ガントチャートで、タスクを追加する</a:t>
            </a:r>
          </a:p>
        </p:txBody>
      </p:sp>
      <p:pic>
        <p:nvPicPr>
          <p:cNvPr id="4" name="Picture 3" descr="12b-gantt-a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26569"/>
            <a:ext cx="7589520" cy="5336381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各行の「＋」を押すと、その行の中にタスクを追加する入力欄が出ます(小項目の行では、同じ階層に追加)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2148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103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タスク名を書いて Enter。続けて何件も入れられます。「タスク名 @〇〇 〜11/30」のように、担当や期限も書けます。Esc で閉じます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6. WBS・ガントチャート — 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タスクが多いときは、「自分の担当だけ」にチェックを入れると、自分の担当のタスクだけが残ります。「すべて閉じる」「すべて開く」で、親タスクをまとめて開閉できます。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ガントチャートを大きくした表示でも、各行の「＋」から、その場でタスクを追加できます(大項目は、いちばん下の「＋ 大項目を追加」)。追加したタスクは期間のない行になるので、棒をなぞって期間を入れましょう。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状態(未着手 / 進行中 / 完了)は、ふだんは作業ログで更新します。WBSで直すのは、間違いを直すときだけです。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子タスクを持つ親タスクには、担当も状態もありません。子タスクの状態から自動で決まります。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7665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下の「変更履歴」で、誰が・いつ・何を変えたかを見られます(チームの全員と先生に見えます)。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7. PJ分析とミーティング — PJ分析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PJ分析は、チームの概況・分析・ガントチャート・WBSをまとめた画面です。毎週のミーティングも、ここから始めます。</a:t>
            </a:r>
          </a:p>
        </p:txBody>
      </p:sp>
      <p:pic>
        <p:nvPicPr>
          <p:cNvPr id="5" name="Picture 4" descr="13-p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1554480"/>
            <a:ext cx="5149900" cy="5029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830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「ミーティングを始める」を押すと、毎週10分の確認が始まります。「Excelで保存」「PDFで保存(印刷)」で、企業に出せる報告書(概要・進捗・ガントチャート・WBS)も作れます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7. PJ分析とミーティング — 報告書に載せる文章</a:t>
            </a:r>
          </a:p>
        </p:txBody>
      </p:sp>
      <p:pic>
        <p:nvPicPr>
          <p:cNvPr id="4" name="Picture 3" descr="13b-report-n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06" y="1005840"/>
            <a:ext cx="5492027" cy="5577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概要と、課題と今後の予定の文章を、チームの言葉で書きます(ふだんは閉じています)。書いたあと少しすると自動で保存され、報告書に「記入日」つきで載ります。概要は、キックオフで自動で作られます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7. PJ分析とミーティング — ミーティング</a:t>
            </a:r>
          </a:p>
        </p:txBody>
      </p:sp>
      <p:pic>
        <p:nvPicPr>
          <p:cNvPr id="4" name="Picture 3" descr="14-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1005840"/>
            <a:ext cx="8924544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7. PJ分析とミーティング — 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ミーティングは、4つの段階で進めます: 前回の約束(2分) → 事実の確認(3分) → 詰まり・手待ちの解消(3分) → 決める(2分)。「次へ」で順に進みます。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記録されたデータをもとに話します。印象や言い訳ではなく、事実で確認します。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8. 使い方・配色とトーン — 使い方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迷ったときは「使い方」と「ガイド」を見ます。画面の色や言い方は、好みで変えられます。</a:t>
            </a:r>
          </a:p>
        </p:txBody>
      </p:sp>
      <p:pic>
        <p:nvPicPr>
          <p:cNvPr id="5" name="Picture 4" descr="15-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98" y="1554480"/>
            <a:ext cx="5836242" cy="5029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830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「ガイド」: いつでも開けます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8. 使い方・配色とトーン — 配色とトーン</a:t>
            </a:r>
          </a:p>
        </p:txBody>
      </p:sp>
      <p:pic>
        <p:nvPicPr>
          <p:cNvPr id="4" name="Picture 3" descr="16-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665" y="1005840"/>
            <a:ext cx="5711708" cy="5577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配色(ブルー・シンプル・グリーン・パープル・オレンジ)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2148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103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トーン(標準・カジュアル・シンプル): 画面とガイドの言い方が変わります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9. スマホで使う — スマホ: ホーム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スマホでも、同じように使えます。毎日開くので、お気に入りに追加しておくと便利です(ホームの上に、追加のしかたが出ています)。</a:t>
            </a:r>
          </a:p>
        </p:txBody>
      </p:sp>
      <p:pic>
        <p:nvPicPr>
          <p:cNvPr id="5" name="Picture 4" descr="17-phon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800" y="1554480"/>
            <a:ext cx="232391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9. スマホで使う — スマホ: 作業ログ</a:t>
            </a:r>
          </a:p>
        </p:txBody>
      </p:sp>
      <p:pic>
        <p:nvPicPr>
          <p:cNvPr id="4" name="Picture 3" descr="18-phone-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041" y="1005840"/>
            <a:ext cx="2577437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9. スマホで使う — 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画面の下のメニューで、画面を切り替えます。WBSは、ガントチャートの表示から始まります(「一覧」で切り替えます)。配色とトーンは、「使い方」のページにあります。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操作デモ — はじめて使うとき(ログイン・ガイド)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ログイン → 初回の案内 → はじめてのガイド → 使い方</a:t>
            </a:r>
          </a:p>
        </p:txBody>
      </p:sp>
      <p:pic>
        <p:nvPicPr>
          <p:cNvPr id="5" name="demo-4-star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737360"/>
            <a:ext cx="8686800" cy="4882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操作デモ — 初期WBSの見直し(キックオフのあと)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ホームの案内 → 編集モードでWBSを開く → 担当を決める → 見直しを終えた</a:t>
            </a:r>
          </a:p>
        </p:txBody>
      </p:sp>
      <p:pic>
        <p:nvPicPr>
          <p:cNvPr id="5" name="demo-5-review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737360"/>
            <a:ext cx="8686800" cy="4882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操作デモ — 作業ログを送る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ホーム → 作業ログ → タスクの詳細 → 結果を選ぶ → 一言 → 送信</a:t>
            </a:r>
          </a:p>
        </p:txBody>
      </p:sp>
      <p:pic>
        <p:nvPicPr>
          <p:cNvPr id="5" name="demo-1-daily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737360"/>
            <a:ext cx="8686800" cy="4882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操作デモ — WBS・ガントチャートを見る・直す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一覧とガントチャート → 編集モード → タスク追加 → ガントチャートを大きく</a:t>
            </a:r>
          </a:p>
        </p:txBody>
      </p:sp>
      <p:pic>
        <p:nvPicPr>
          <p:cNvPr id="5" name="demo-2-wb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737360"/>
            <a:ext cx="8686800" cy="4882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操作デモ — PJ分析とミーティング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PJ分析 → Excel・PDF → ミーティングの4段階</a:t>
            </a:r>
          </a:p>
        </p:txBody>
      </p:sp>
      <p:pic>
        <p:nvPicPr>
          <p:cNvPr id="5" name="demo-3-pj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737360"/>
            <a:ext cx="8686800" cy="4882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技術の説明 — システム構成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サーバーを自前で持たず、Googleのサービスと無料枠だけで動いています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194560" cy="1188720"/>
          </a:xfrm>
          <a:prstGeom prst="roundRect">
            <a:avLst/>
          </a:prstGeom>
          <a:solidFill>
            <a:srgbClr val="E8F2FF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76272"/>
            <a:ext cx="2011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A84FF"/>
                </a:solidFill>
                <a:latin typeface="Noto Sans JP"/>
              </a:rPr>
              <a:t>学生・先生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39"/>
            <a:ext cx="2011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ブラウザ(PC・スマホ)
で使う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737360"/>
            <a:ext cx="256032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810512"/>
            <a:ext cx="2377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A84FF"/>
                </a:solidFill>
                <a:latin typeface="Noto Sans JP"/>
              </a:rPr>
              <a:t>Firebase Hosting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240280"/>
            <a:ext cx="23774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画面(React)を配信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926080"/>
            <a:ext cx="256032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999232"/>
            <a:ext cx="2377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A84FF"/>
                </a:solidFill>
                <a:latin typeface="Noto Sans JP"/>
              </a:rPr>
              <a:t>Firebase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429000"/>
            <a:ext cx="23774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Googleログイン
(学校のアカウントのみ)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114800"/>
            <a:ext cx="256032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4187952"/>
            <a:ext cx="2377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A84FF"/>
                </a:solidFill>
                <a:latin typeface="Noto Sans JP"/>
              </a:rPr>
              <a:t>Cloud Firestore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617720"/>
            <a:ext cx="23774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データの保存
+ セキュリティルール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291840"/>
            <a:ext cx="2194560" cy="1188720"/>
          </a:xfrm>
          <a:prstGeom prst="roundRect">
            <a:avLst/>
          </a:prstGeom>
          <a:solidFill>
            <a:srgbClr val="E8F2FF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3364992"/>
            <a:ext cx="2011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A84FF"/>
                </a:solidFill>
                <a:latin typeface="Noto Sans JP"/>
              </a:rPr>
              <a:t>Apps 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3794760"/>
            <a:ext cx="2011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毎日の自動処理
(バックアップ・進捗書き出し)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2103120"/>
            <a:ext cx="192024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176272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A84FF"/>
                </a:solidFill>
                <a:latin typeface="Noto Sans JP"/>
              </a:rPr>
              <a:t>ドライブ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606039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バックアップ
進捗報告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3657600"/>
            <a:ext cx="192024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3730752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A84FF"/>
                </a:solidFill>
                <a:latin typeface="Noto Sans JP"/>
              </a:rPr>
              <a:t>Gmail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1605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先生への通知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94960"/>
            <a:ext cx="11338560" cy="914400"/>
          </a:xfrm>
          <a:prstGeom prst="roundRect">
            <a:avLst/>
          </a:prstGeom>
          <a:solidFill>
            <a:srgbClr val="FFF1E0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468112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7A00"/>
                </a:solidFill>
                <a:latin typeface="Noto Sans JP"/>
              </a:rPr>
              <a:t>GitHub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テストして、問題がなければ Hosting とセキュリティルールを公開(手動で実行)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651760" y="2194560"/>
            <a:ext cx="1005840" cy="457200"/>
          </a:xfrm>
          <a:prstGeom prst="line">
            <a:avLst/>
          </a:prstGeom>
          <a:ln w="25400">
            <a:solidFill>
              <a:srgbClr val="5A6A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51760" y="2743200"/>
            <a:ext cx="1005840" cy="640080"/>
          </a:xfrm>
          <a:prstGeom prst="line">
            <a:avLst/>
          </a:prstGeom>
          <a:ln w="25400">
            <a:solidFill>
              <a:srgbClr val="5A6A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651760" y="3017520"/>
            <a:ext cx="1005840" cy="1554480"/>
          </a:xfrm>
          <a:prstGeom prst="line">
            <a:avLst/>
          </a:prstGeom>
          <a:ln w="25400">
            <a:solidFill>
              <a:srgbClr val="5A6A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40280" y="350215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A85"/>
                </a:solidFill>
                <a:latin typeface="Noto Sans JP"/>
              </a:rPr>
              <a:t>直接読み書き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6217920" y="4023360"/>
            <a:ext cx="1280159" cy="548640"/>
          </a:xfrm>
          <a:prstGeom prst="line">
            <a:avLst/>
          </a:prstGeom>
          <a:ln w="25400">
            <a:solidFill>
              <a:srgbClr val="5A6A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0" y="40050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A85"/>
                </a:solidFill>
                <a:latin typeface="Noto Sans JP"/>
              </a:rPr>
              <a:t>先生の権限で読む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9692640" y="2651760"/>
            <a:ext cx="274320" cy="1005840"/>
          </a:xfrm>
          <a:prstGeom prst="line">
            <a:avLst/>
          </a:prstGeom>
          <a:ln w="25400">
            <a:solidFill>
              <a:srgbClr val="5A6A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692640" y="4023360"/>
            <a:ext cx="274320" cy="91440"/>
          </a:xfrm>
          <a:prstGeom prst="line">
            <a:avLst/>
          </a:prstGeom>
          <a:ln w="25400">
            <a:solidFill>
              <a:srgbClr val="5A6A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48920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85"/>
                </a:solidFill>
                <a:latin typeface="Noto Sans JP"/>
              </a:rPr>
              <a:t>※ Cloud Functions・Storage は使わない(無料プランで運用)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技術の説明 — 使っている技術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小さく、無料で、長く動かせることを優先して選んでいます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737360" cy="73152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18872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React 18 + TypeScript(厳密モード)+ Vite。UIライブラリは使わず、素のCSS。日本語UI、PC優先でスマホにも対応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737360" cy="73152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データ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05740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Cloud Firestore(リアルタイムに更新)。サーバーを挟まず、画面から直接読み書きする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1737360" cy="73152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ログイン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2608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Firebase Authentication の Google ログインのみ。学校のメールで、名簿(roster)に載っている人だけが入れる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59"/>
            <a:ext cx="1737360" cy="73152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59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出力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94759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Excel(ExcelJS)・PDF(印刷)・CSV。企業に出せる進捗報告書を、画面から作れる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1737360" cy="73152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自動処理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66344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Google Apps Script。毎日のバックアップ、Excel・PDFの進捗書き出し(ドライブへ)、先生への通知(Gmail)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2120"/>
            <a:ext cx="1737360" cy="73152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3212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公開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53212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Firebase Hosting。GitHub Actions で、テストに通ったものだけを公開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技術の説明 — データとセキュリティ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守りの本体は、サーバーではなく Firestore のセキュリティルールです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84FF"/>
                </a:solidFill>
                <a:latin typeface="Noto Sans JP"/>
              </a:rPr>
              <a:t>入れる人を限る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188720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学校のGoogleアカウントで、メールが確認済みで、名簿にある人だけ。名簿にない人は、ログインしてもデータを読めない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04288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12848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84FF"/>
                </a:solidFill>
                <a:latin typeface="Noto Sans JP"/>
              </a:rPr>
              <a:t>役割で分ける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12848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学生は自分のチームだけ。先生は全チームを見られる。キックオフ前の叩き台や名簿など、先生だけが読み書きできるデータがある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328416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36976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84FF"/>
                </a:solidFill>
                <a:latin typeface="Noto Sans JP"/>
              </a:rPr>
              <a:t>個人情報を絞る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36976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メールアドレスは名簿にだけ置き、ほかのデータは学生ID(A1〜H4)で参照する。他人のメールは読めない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61104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84FF"/>
                </a:solidFill>
                <a:latin typeface="Noto Sans JP"/>
              </a:rPr>
              <a:t>消えにくくする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261104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毎日バックアップをドライブへ。先生は、過去の状態から復元できる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76672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285232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84FF"/>
                </a:solidFill>
                <a:latin typeface="Noto Sans JP"/>
              </a:rPr>
              <a:t>試して守る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285232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ルールそのものを、エミュレータで自動テストしている。変えるたびに、破られないかを確かめる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技術の説明 — 開発と運用の仕組み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作ったあとも、壊れずに直し続けられるようにしています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57600" cy="493776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84FF"/>
                </a:solidFill>
                <a:latin typeface="Noto Sans JP"/>
              </a:rPr>
              <a:t>3種類の自動テスト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918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・関数の単体テスト(Vitest)
・セキュリティルールのテスト(Firestoreエミュレータ)
・画面の通しテスト(Playwright)
この画面の操作マニュアルと動画も、同じ仕組みで自動で撮影・生成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57600" cy="493776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1732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84FF"/>
                </a:solidFill>
                <a:latin typeface="Noto Sans JP"/>
              </a:rPr>
              <a:t>公開の流れ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2918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1. 変更を保存(GitHub)
2. 型チェック・テスト・ビルド
3. すべて通ったら、Hosting とルールを公開
通らなければ、公開されない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657600" cy="493776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1732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84FF"/>
                </a:solidFill>
                <a:latin typeface="Noto Sans JP"/>
              </a:rPr>
              <a:t>無料枠で回す工夫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2918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・読み取り回数を減らす(バックアップは軽い版を毎日、フル版は週1回)
・Cloud Functions を使わず、定期処理は Apps Script
・データは小さく保つ(動画や録音は置かない)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困ったとき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Noto Sans JP"/>
              </a:rPr>
              <a:t>作業ログを書き忘れたとき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作業ログは、その日のうちだけ書けます。次の授業日に、前回のあとのぶんをまとめて書いてください。欠席の扱いは、先生が入力します。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Noto Sans JP"/>
              </a:rPr>
              <a:t>詰まったとき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4203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まず、チームの誰かに相談します。作業ログで「詰まった」を選んで、どこで詰まったか・何を試したかを書くと、ミーティングの「詰まっていること」に出て、チームで解決できます。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3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Noto Sans JP"/>
              </a:rPr>
              <a:t>WBSにない作業をしたとき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39311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作業ログの「＋ WBSにない作業をした」を押して、名前・入れる場所・やった日・結果・説明を書きます。送信すると、WBSにタスクとして追加されます。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Noto Sans JP"/>
              </a:rPr>
              <a:t>手が空いた・やることがないとき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365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ホームの「担当がいないタスク」から「担当する」を押します。ミーティングの「手待ちの人と、タスクの振り分け」で決めることもできます。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Noto Sans JP"/>
              </a:rPr>
              <a:t>ログインできない・画面がおかしい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3387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SafariまたはChromeで開いてください。@trident.ac.jp のアカウントで入ります。画面が古いときは、再読み込みします。「権限がありません」と出たら、名簿の確認が必要なので、先生に連絡してください。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83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Noto Sans JP"/>
              </a:rPr>
              <a:t>初期WBSの見直しが終わらない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93115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ホームの「初期WBSの見直し」の「編集モードでWBSを開く」から、担当が決まっていない項目に担当を付けます。担当がそろうと、「見直しを終えた」を押せます。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768095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Noto Sans JP"/>
              </a:rPr>
              <a:t>作業ログで、タスクを間違えて選んだ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8028431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そのカードの「今日は作業していない」を押すと、作業ログから消えます(説明を書いていたときは、確認が出ます)。外したタスクは、「ほかのタスクを選ぶ」から選び直せます。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778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Noto Sans JP"/>
              </a:rPr>
              <a:t>作業ログのタスクの詳細を見たい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912571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カードの右上の「詳細 ▾」を押すと、やること・できあがりが開きます。もう一度押すと閉じます。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