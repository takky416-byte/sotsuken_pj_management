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2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2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2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Noto Sans JP"/>
              </a:rPr>
              <a:t>卒研PJ管理 操作マニュアル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Noto Sans JP"/>
              </a:rPr>
              <a:t>教員編 説明資料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389120"/>
            <a:ext cx="8503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8F2FF"/>
                </a:solidFill>
                <a:latin typeface="Noto Sans JP"/>
              </a:rPr>
              <a:t>卒研の「予定」と「毎日の記録」を、全チーム分、教員の画面で見渡すための操作マニュアルです。画面の写真と番号で、操作を説明します。写真のデータは、テスト用の架空のものです。教員の画面は、学生には見えません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まずはこの4つ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85"/>
                </a:solidFill>
                <a:latin typeface="Noto Sans JP"/>
              </a:rPr>
              <a:t>これだけ覚えれば、使い始められます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94960" cy="2011680"/>
          </a:xfrm>
          <a:prstGeom prst="roundRect">
            <a:avLst/>
          </a:prstGeom>
          <a:solidFill>
            <a:srgbClr val="E8F2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A84FF"/>
                </a:solidFill>
                <a:latin typeface="Noto Sans JP"/>
              </a:rPr>
              <a:t>1. ダッシュボードを見る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4223A"/>
                </a:solidFill>
                <a:latin typeface="Noto Sans JP"/>
              </a:rPr>
              <a:t>「チーム」で、全チームの進み具合と「要確認」が分かります。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94960" cy="2011680"/>
          </a:xfrm>
          <a:prstGeom prst="roundRect">
            <a:avLst/>
          </a:prstGeom>
          <a:solidFill>
            <a:srgbClr val="E8F2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A84FF"/>
                </a:solidFill>
                <a:latin typeface="Noto Sans JP"/>
              </a:rPr>
              <a:t>2. 利用状況で関与を見る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6032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4223A"/>
                </a:solidFill>
                <a:latin typeface="Noto Sans JP"/>
              </a:rPr>
              <a:t>メンバーごとの関与・貢献を、数で見ます(キックオフから通算)。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23360"/>
            <a:ext cx="5394960" cy="2011680"/>
          </a:xfrm>
          <a:prstGeom prst="roundRect">
            <a:avLst/>
          </a:prstGeom>
          <a:solidFill>
            <a:srgbClr val="E8F2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062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A84FF"/>
                </a:solidFill>
                <a:latin typeface="Noto Sans JP"/>
              </a:rPr>
              <a:t>3. キックオフする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4632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4223A"/>
                </a:solidFill>
                <a:latin typeface="Noto Sans JP"/>
              </a:rPr>
              <a:t>登録した叩き台から、企画を選ぶだけで、計画が始まります。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394960" cy="2011680"/>
          </a:xfrm>
          <a:prstGeom prst="roundRect">
            <a:avLst/>
          </a:prstGeom>
          <a:solidFill>
            <a:srgbClr val="E8F2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2062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A84FF"/>
                </a:solidFill>
                <a:latin typeface="Noto Sans JP"/>
              </a:rPr>
              <a:t>4. ミーティングを進める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84632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4223A"/>
                </a:solidFill>
                <a:latin typeface="Noto Sans JP"/>
              </a:rPr>
              <a:t>1チーム10分を、4つの段階で進めます。欠席も入力します。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1. ダッシュボード(チーム一覧) — チーム一覧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85"/>
                </a:solidFill>
                <a:latin typeface="Noto Sans JP"/>
              </a:rPr>
              <a:t>ナビの「チーム」です。全チームの状況を1画面で見て、見るべきチームを見つけます。</a:t>
            </a:r>
          </a:p>
        </p:txBody>
      </p:sp>
      <p:pic>
        <p:nvPicPr>
          <p:cNvPr id="5" name="Picture 4" descr="t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15" y="1554480"/>
            <a:ext cx="6951809" cy="50292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229600" y="182880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78308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「要確認のチームを上に並べる」: 要確認の多いチームが、上に出ます</a:t>
            </a:r>
          </a:p>
        </p:txBody>
      </p:sp>
      <p:sp>
        <p:nvSpPr>
          <p:cNvPr id="8" name="Oval 7"/>
          <p:cNvSpPr/>
          <p:nvPr/>
        </p:nvSpPr>
        <p:spPr>
          <a:xfrm>
            <a:off x="8229600" y="269748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65176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「最新にする」: WBS進捗・期限超過の数が合わないと感じたときに押します(全チームのタスクを読み直すので、読み取りが約500回増えます。ふだんは不要です)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356616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52044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WBS進捗と、期限超過の件数です。タスクを変えるたびに更新される集計から出しています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0" y="443484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438912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「要確認」: 授業日に2回続けて作業ログが未提出(欠席は除く)の人と、担当がいなくて期限を過ぎたタスク。目安であり、評価や単位認定には使いません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1. ダッシュボード(チーム一覧) — 提出先の一覧と、全チームへのメッセージ</a:t>
            </a:r>
          </a:p>
        </p:txBody>
      </p:sp>
      <p:pic>
        <p:nvPicPr>
          <p:cNvPr id="4" name="Picture 3" descr="t01b-dashboard-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06" y="1005840"/>
            <a:ext cx="5492027" cy="55778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229600" y="128016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123444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成果物の提出先(Googleドライブ)が、全チームで設定済みか確かめられます</a:t>
            </a:r>
          </a:p>
        </p:txBody>
      </p:sp>
      <p:sp>
        <p:nvSpPr>
          <p:cNvPr id="7" name="Oval 6"/>
          <p:cNvSpPr/>
          <p:nvPr/>
        </p:nvSpPr>
        <p:spPr>
          <a:xfrm>
            <a:off x="8229600" y="214884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210312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全チームに、同じメッセージを送れます(学生のホームに出ます)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1. ダッシュボード(チーム一覧) — 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「企画検討中」のチームは、キックオフ前です。チーム名を押すと、キックオフの画面から始められます。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ダッシュボードを開くときの読み取りは、タスク全件ではなく、チームごとの集計(1件)です。そのため、開いても、ほとんど読み取りが増えません。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2. チーム詳細 — チーム詳細(WBS・ガントチャート)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85"/>
                </a:solidFill>
                <a:latin typeface="Noto Sans JP"/>
              </a:rPr>
              <a:t>ダッシュボードのチーム名を押すと開きます。タブで、WBS・分析・関与・作業ログ・議事録・教員メモを切り替えます。</a:t>
            </a:r>
          </a:p>
        </p:txBody>
      </p:sp>
      <p:pic>
        <p:nvPicPr>
          <p:cNvPr id="5" name="Picture 4" descr="t02-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1554480"/>
            <a:ext cx="5149900" cy="50292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229600" y="182880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78308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WBS・ガントチャート: 教員は、常に編集できます(保留も設定できます)</a:t>
            </a:r>
          </a:p>
        </p:txBody>
      </p:sp>
      <p:sp>
        <p:nvSpPr>
          <p:cNvPr id="8" name="Oval 7"/>
          <p:cNvSpPr/>
          <p:nvPr/>
        </p:nvSpPr>
        <p:spPr>
          <a:xfrm>
            <a:off x="8229600" y="269748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65176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「関与」: メンバーごとの活動の事実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356616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52044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「ミーティング記録」: 過去の記録と、議事録(学生に公開できます)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0" y="443484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438912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チームへのメッセージ(学生のホームに出ます)と、成果物の提出先の設定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2. チーム詳細 — 関与(メンバーごとの目安)</a:t>
            </a:r>
          </a:p>
        </p:txBody>
      </p:sp>
      <p:pic>
        <p:nvPicPr>
          <p:cNvPr id="4" name="Picture 3" descr="t03-team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665" y="1005840"/>
            <a:ext cx="5711708" cy="55778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229600" y="128016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123444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メンバーごとの目安(作業ログの提出と連続日数・担当・完了・期限超過・約束の達成・ありがとうの送受信)です。確認のきっかけに使うもので、評価や単位認定には使いません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2. チーム詳細 — 作業ログ(提出状況)</a:t>
            </a:r>
          </a:p>
        </p:txBody>
      </p:sp>
      <p:pic>
        <p:nvPicPr>
          <p:cNvPr id="4" name="Picture 3" descr="t04-team-da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665" y="1005840"/>
            <a:ext cx="5711708" cy="55778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229600" y="128016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123444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メンバー × 授業日の、提出状況です(○提出 / 欠 欠席 / × 未提出)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2. チーム詳細 — ミーティング記録</a:t>
            </a:r>
          </a:p>
        </p:txBody>
      </p:sp>
      <p:pic>
        <p:nvPicPr>
          <p:cNvPr id="4" name="Picture 3" descr="t05-team-mee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471" y="1005840"/>
            <a:ext cx="6490577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2. チーム詳細 — 教員メモ(専用)</a:t>
            </a:r>
          </a:p>
        </p:txBody>
      </p:sp>
      <p:pic>
        <p:nvPicPr>
          <p:cNvPr id="4" name="Picture 3" descr="t06-team-no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942" y="1005840"/>
            <a:ext cx="7139635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2. チーム詳細 — 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教員メモは、学生には見えません。コメントは学生にも見えます。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チーム詳細を開くと、WBSの集計も、タスクから作り直して、ずれていれば直します。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3. キックオフ — キックオフ(企画と叩き台を選ぶ)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85"/>
                </a:solidFill>
                <a:latin typeface="Noto Sans JP"/>
              </a:rPr>
              <a:t>企画検討中のチームを、運用中にします。先に、設定の「叩き台の登録」で、チームごとに2案を登録しておきます。</a:t>
            </a:r>
          </a:p>
        </p:txBody>
      </p:sp>
      <p:pic>
        <p:nvPicPr>
          <p:cNvPr id="5" name="Picture 4" descr="t07-kick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457" y="1554480"/>
            <a:ext cx="4598125" cy="50292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229600" y="182880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78308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採用する企画を選びます(企画①・②)。企画名と叩き台が入ります</a:t>
            </a:r>
          </a:p>
        </p:txBody>
      </p:sp>
      <p:sp>
        <p:nvSpPr>
          <p:cNvPr id="8" name="Oval 7"/>
          <p:cNvSpPr/>
          <p:nvPr/>
        </p:nvSpPr>
        <p:spPr>
          <a:xfrm>
            <a:off x="8229600" y="269748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65176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企画名は、直せます(仮の名前でも始められます)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356616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52044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叩き台の点検: 項目数・日程・必要な成果物などを、自動でチェックします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0" y="443484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438912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「キックオフする」: タスクが作られ、学生のホームに「初期WBSの見直し」が出ます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3. キックオフ — 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叩き台は、案です。学生が、削除・追加・修正をして、自分たちの計画に仕上げます。仕上げたかどうかは、チームが「見直しを終えた」を押して記録します。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同じ名前のタスクは作り直さないので、何度実行しても増えません。やり直すときは、「最初からやり直す」にチェックを入れます(いまのタスク・作業ログなどが消えます)。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4. ミーティングと欠席 — ミーティング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85"/>
                </a:solidFill>
                <a:latin typeface="Noto Sans JP"/>
              </a:rPr>
              <a:t>進捗確認会議は、1チーム10分を、4つの段階で進めます。</a:t>
            </a:r>
          </a:p>
        </p:txBody>
      </p:sp>
      <p:pic>
        <p:nvPicPr>
          <p:cNvPr id="5" name="Picture 4" descr="t08-me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399" y="1554480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4. ミーティングと欠席 — 欠席の入力</a:t>
            </a:r>
          </a:p>
        </p:txBody>
      </p:sp>
      <p:pic>
        <p:nvPicPr>
          <p:cNvPr id="4" name="Picture 3" descr="t09-atten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26569"/>
            <a:ext cx="7589520" cy="5336381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229600" y="128016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123444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欠席は、教員だけが入力します。欠席の日は、未提出に数えません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4. ミーティングと欠席 — 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ミーティングの「事実の確認」には、メンバーごとの「最後に動いた日・7日の更新・作業ログ・担当(未完了)・期限超過・約束」の表が出ます。記録されたデータだけから求めた事実です。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段階は、前回の約束 → 事実の確認 → 詰まり・手待ちの解消 → 決める、です。「次の1週間でやること」には、担当(約束した人)を付けられます。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議事録は、教員が書いて、公開すると、学生に見えます。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5. 利用状況(関与・貢献の分析) — 関与・貢献の分析(チームの中)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85"/>
                </a:solidFill>
                <a:latin typeface="Noto Sans JP"/>
              </a:rPr>
              <a:t>ナビの「利用状況」です。メンバーの関与・貢献を、キックオフからの通算などで、数で見ます。成績や指導の参考にできます。</a:t>
            </a:r>
          </a:p>
        </p:txBody>
      </p:sp>
      <p:pic>
        <p:nvPicPr>
          <p:cNvPr id="5" name="Picture 4" descr="t10-usage-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222" y="1554480"/>
            <a:ext cx="4314595" cy="50292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229600" y="182880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78308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チームを選びます(選んだチームのぶんだけ読み込みます)</a:t>
            </a:r>
          </a:p>
        </p:txBody>
      </p:sp>
      <p:sp>
        <p:nvSpPr>
          <p:cNvPr id="8" name="Oval 7"/>
          <p:cNvSpPr/>
          <p:nvPr/>
        </p:nvSpPr>
        <p:spPr>
          <a:xfrm>
            <a:off x="8229600" y="269748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65176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期間: キックオフから通算 / 直近30日 / 直近7日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356616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52044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「CSVで書き出す」: 表計算ソフトに取り込めます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0" y="443484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438912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メンバーの割合(積み上げ棒)。線は、人数で均等に分けた割合です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0" y="530352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525780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週ごとの動き(ヒートマップ)。動きが止まった週が分かります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5. 利用状況(関与・貢献の分析) — チームどうしの比較</a:t>
            </a:r>
          </a:p>
        </p:txBody>
      </p:sp>
      <p:pic>
        <p:nvPicPr>
          <p:cNvPr id="4" name="Picture 3" descr="t11-usage-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23" y="1005840"/>
            <a:ext cx="7571193" cy="55778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229600" y="128016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123444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メンバー1人を1つの点にして、チームの平均(縦線)とばらつきを見ます</a:t>
            </a:r>
          </a:p>
        </p:txBody>
      </p:sp>
      <p:sp>
        <p:nvSpPr>
          <p:cNvPr id="7" name="Oval 6"/>
          <p:cNvSpPr/>
          <p:nvPr/>
        </p:nvSpPr>
        <p:spPr>
          <a:xfrm>
            <a:off x="8229600" y="214884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210312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点で見る指標を選べます(作業ログの提出率・アクセスした日の割合・担当タスクの完了率)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5. 利用状況(関与・貢献の分析) — 作業ログの一覧</a:t>
            </a:r>
          </a:p>
        </p:txBody>
      </p:sp>
      <p:pic>
        <p:nvPicPr>
          <p:cNvPr id="4" name="Picture 3" descr="t12-usage-l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665" y="1005840"/>
            <a:ext cx="5711708" cy="55778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229600" y="128016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123444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「チームごと」「個人ごと」の見方を切り替えます</a:t>
            </a:r>
          </a:p>
        </p:txBody>
      </p:sp>
      <p:sp>
        <p:nvSpPr>
          <p:cNvPr id="7" name="Oval 6"/>
          <p:cNvSpPr/>
          <p:nvPr/>
        </p:nvSpPr>
        <p:spPr>
          <a:xfrm>
            <a:off x="8229600" y="214884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210312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日付・文字(説明・次にやること・タスク名)で絞り込めます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5. 利用状況(関与・貢献の分析) — アクセス</a:t>
            </a:r>
          </a:p>
        </p:txBody>
      </p:sp>
      <p:pic>
        <p:nvPicPr>
          <p:cNvPr id="4" name="Picture 3" descr="t13-usage-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06" y="1005840"/>
            <a:ext cx="5492027" cy="55778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229600" y="128016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123444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名前を押すと、日ごとの時刻・開いた回数と、全画面の合計が出ます</a:t>
            </a:r>
          </a:p>
        </p:txBody>
      </p:sp>
      <p:sp>
        <p:nvSpPr>
          <p:cNvPr id="7" name="Oval 6"/>
          <p:cNvSpPr/>
          <p:nvPr/>
        </p:nvSpPr>
        <p:spPr>
          <a:xfrm>
            <a:off x="8229600" y="214884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210312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しばらくアクセスのない人は、色が付きます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5. 利用状況(関与・貢献の分析) — 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点数や順位は、つけません。数は関与の目安で、内容の質は、作業ログや成果物で確かめてください。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変更履歴は10/24に記録が始まったため、それ以前の変更は含みません。変更履歴が多いチームは、新しい3,000件までで数えます。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「全チームを読み込んで比べる」は、読み取りが多い(学期が進むと1回で1万回ほど)ので、必要なときだけ押してください。無料枠は1日5万回です。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アクセス履歴が記録するのは、日付・時刻・開いた回数・画面の表示回数・画面の種類だけです。入力内容は記録しません。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6. PJ分析と報告書 — PJ分析(概況レポート)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85"/>
                </a:solidFill>
                <a:latin typeface="Noto Sans JP"/>
              </a:rPr>
              <a:t>ナビの「PJ分析」で、チームを選ぶと、学生と同じ画面(概況・分析・ガントチャート・WBS)が出ます。</a:t>
            </a:r>
          </a:p>
        </p:txBody>
      </p:sp>
      <p:pic>
        <p:nvPicPr>
          <p:cNvPr id="5" name="Picture 4" descr="t14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846" y="1554480"/>
            <a:ext cx="495182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6. PJ分析と報告書 — 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「Excelで保存(.xlsx)」「PDFで保存(印刷)」で、企業に出せる報告書になります。チームの学生が書いた文章(概要・課題・今後)も入ります。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毎日、Googleドライブに自動で保存する仕組みもあります(Apps Script の進捗報告)。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7. 設定 — 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85"/>
                </a:solidFill>
                <a:latin typeface="Noto Sans JP"/>
              </a:rPr>
              <a:t>ナビの「設定」です。基本設定・名簿・カレンダー・叩き台の登録・書き出し/バックアップがあります。</a:t>
            </a:r>
          </a:p>
        </p:txBody>
      </p:sp>
      <p:pic>
        <p:nvPicPr>
          <p:cNvPr id="5" name="Picture 4" descr="t15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554480"/>
            <a:ext cx="5852160" cy="50292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229600" y="182880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78308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名簿: 学生の登録(CSVで一括)・苗字の変更・チームの変更</a:t>
            </a:r>
          </a:p>
        </p:txBody>
      </p:sp>
      <p:sp>
        <p:nvSpPr>
          <p:cNvPr id="8" name="Oval 7"/>
          <p:cNvSpPr/>
          <p:nvPr/>
        </p:nvSpPr>
        <p:spPr>
          <a:xfrm>
            <a:off x="8229600" y="269748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65176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カレンダー: 授業日・時限・ミーティングの有無・マイルストーン(ナビの「カレンダー」は、設定の中にまとめました)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7. 設定 — 名簿</a:t>
            </a:r>
          </a:p>
        </p:txBody>
      </p:sp>
      <p:pic>
        <p:nvPicPr>
          <p:cNvPr id="4" name="Picture 3" descr="t16-r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912" y="1005840"/>
            <a:ext cx="5949695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7. 設定 — カレンダー</a:t>
            </a:r>
          </a:p>
        </p:txBody>
      </p:sp>
      <p:pic>
        <p:nvPicPr>
          <p:cNvPr id="4" name="Picture 3" descr="t17-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912" y="1005840"/>
            <a:ext cx="5949695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7. 設定 — 叩き台の登録</a:t>
            </a:r>
          </a:p>
        </p:txBody>
      </p:sp>
      <p:pic>
        <p:nvPicPr>
          <p:cNvPr id="4" name="Picture 3" descr="t18-draf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023" y="1005840"/>
            <a:ext cx="610747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7. 設定 — 書き出し・バックアップ</a:t>
            </a:r>
          </a:p>
        </p:txBody>
      </p:sp>
      <p:pic>
        <p:nvPicPr>
          <p:cNvPr id="4" name="Picture 3" descr="t19-ex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272" y="1005840"/>
            <a:ext cx="8140975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7. 設定 — 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叩き台は、企画の内容を含むので、公開のリポジトリには入れません。この画面から、直接登録します。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バックアップは、Apps Script で毎日自動です。変更履歴・アクセス履歴は、週1回(月曜)の全部入りのときだけ入ります。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復元は、「バックアップから復元する」で、JSONファイルを選びます。確認画面で、何件が上書き・新規になるかが出ます。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8. 学生の画面・使い方 — 学生の画面(プレビュー)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85"/>
                </a:solidFill>
                <a:latin typeface="Noto Sans JP"/>
              </a:rPr>
              <a:t>「学生の画面」で、学生と同じ画面を確認できます(教員のプレビューでは、編集モードにはできません)。「使い方」には、教員向けの説明があります。</a:t>
            </a:r>
          </a:p>
        </p:txBody>
      </p:sp>
      <p:pic>
        <p:nvPicPr>
          <p:cNvPr id="5" name="Picture 4" descr="t20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7355"/>
            <a:ext cx="7589520" cy="474345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229600" y="182880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78308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学生を選ぶと、その学生が見ている画面が出ます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8. 学生の画面・使い方 — 使い方(教員)</a:t>
            </a:r>
          </a:p>
        </p:txBody>
      </p:sp>
      <p:pic>
        <p:nvPicPr>
          <p:cNvPr id="4" name="Picture 3" descr="t21-he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189" y="1005840"/>
            <a:ext cx="783714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8. 学生の画面・使い方 — 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23A"/>
                </a:solidFill>
                <a:latin typeface="Noto Sans JP"/>
              </a:rPr>
              <a:t>● プレビューでの操作は、アクセス履歴に記録されません。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操作デモ — ダッシュボードで要確認を見つける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85"/>
                </a:solidFill>
                <a:latin typeface="Noto Sans JP"/>
              </a:rPr>
              <a:t>チーム一覧 → 要確認 → チーム詳細 → 関与・作業ログ</a:t>
            </a:r>
          </a:p>
        </p:txBody>
      </p:sp>
      <p:pic>
        <p:nvPicPr>
          <p:cNvPr id="5" name="demo-t-1-dashboar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7360" y="1737360"/>
            <a:ext cx="8686800" cy="48828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操作デモ — 利用状況で関与を数で見る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85"/>
                </a:solidFill>
                <a:latin typeface="Noto Sans JP"/>
              </a:rPr>
              <a:t>分析 → 割合・ヒートマップ → CSV → チームどうし → アクセス</a:t>
            </a:r>
          </a:p>
        </p:txBody>
      </p:sp>
      <p:pic>
        <p:nvPicPr>
          <p:cNvPr id="5" name="demo-t-2-usag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7360" y="1737360"/>
            <a:ext cx="8686800" cy="48828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操作デモ — キックオフ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85"/>
                </a:solidFill>
                <a:latin typeface="Noto Sans JP"/>
              </a:rPr>
              <a:t>叩き台(2案)を選ぶ → 点検 → キックオフする</a:t>
            </a:r>
          </a:p>
        </p:txBody>
      </p:sp>
      <p:pic>
        <p:nvPicPr>
          <p:cNvPr id="5" name="demo-t-3-kickof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7360" y="1737360"/>
            <a:ext cx="8686800" cy="48828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操作デモ — ミーティングと欠席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85"/>
                </a:solidFill>
                <a:latin typeface="Noto Sans JP"/>
              </a:rPr>
              <a:t>4つの段階 → 欠席の入力</a:t>
            </a:r>
          </a:p>
        </p:txBody>
      </p:sp>
      <p:pic>
        <p:nvPicPr>
          <p:cNvPr id="5" name="demo-t-4-meeting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7360" y="1737360"/>
            <a:ext cx="8686800" cy="48828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操作デモ — 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85"/>
                </a:solidFill>
                <a:latin typeface="Noto Sans JP"/>
              </a:rPr>
              <a:t>カレンダー → 叩き台の登録 → 書き出し・バックアップ</a:t>
            </a:r>
          </a:p>
        </p:txBody>
      </p:sp>
      <p:pic>
        <p:nvPicPr>
          <p:cNvPr id="5" name="demo-t-5-setting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7360" y="1737360"/>
            <a:ext cx="8686800" cy="48828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技術の説明 — システム構成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85"/>
                </a:solidFill>
                <a:latin typeface="Noto Sans JP"/>
              </a:rPr>
              <a:t>サーバーを自前で持たず、Googleのサービスと無料枠だけで動いています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2194560" cy="1188720"/>
          </a:xfrm>
          <a:prstGeom prst="roundRect">
            <a:avLst/>
          </a:prstGeom>
          <a:solidFill>
            <a:srgbClr val="E8F2FF"/>
          </a:solidFill>
          <a:ln>
            <a:solidFill>
              <a:srgbClr val="B8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76272"/>
            <a:ext cx="20116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A84FF"/>
                </a:solidFill>
                <a:latin typeface="Noto Sans JP"/>
              </a:rPr>
              <a:t>学生・先生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39"/>
            <a:ext cx="20116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23A"/>
                </a:solidFill>
                <a:latin typeface="Noto Sans JP"/>
              </a:rPr>
              <a:t>ブラウザ(PC・スマホ)
で使う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737360"/>
            <a:ext cx="2560320" cy="914400"/>
          </a:xfrm>
          <a:prstGeom prst="roundRect">
            <a:avLst/>
          </a:prstGeom>
          <a:solidFill>
            <a:srgbClr val="E8F2FF"/>
          </a:solidFill>
          <a:ln>
            <a:solidFill>
              <a:srgbClr val="B8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810512"/>
            <a:ext cx="23774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A84FF"/>
                </a:solidFill>
                <a:latin typeface="Noto Sans JP"/>
              </a:rPr>
              <a:t>Firebase Hosting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240280"/>
            <a:ext cx="23774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23A"/>
                </a:solidFill>
                <a:latin typeface="Noto Sans JP"/>
              </a:rPr>
              <a:t>画面(React)を配信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926080"/>
            <a:ext cx="2560320" cy="914400"/>
          </a:xfrm>
          <a:prstGeom prst="roundRect">
            <a:avLst/>
          </a:prstGeom>
          <a:solidFill>
            <a:srgbClr val="E8F2FF"/>
          </a:solidFill>
          <a:ln>
            <a:solidFill>
              <a:srgbClr val="B8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2999232"/>
            <a:ext cx="23774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A84FF"/>
                </a:solidFill>
                <a:latin typeface="Noto Sans JP"/>
              </a:rPr>
              <a:t>Firebase 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429000"/>
            <a:ext cx="23774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23A"/>
                </a:solidFill>
                <a:latin typeface="Noto Sans JP"/>
              </a:rPr>
              <a:t>Googleログイン
(学校のアカウントのみ)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4114800"/>
            <a:ext cx="2560320" cy="914400"/>
          </a:xfrm>
          <a:prstGeom prst="roundRect">
            <a:avLst/>
          </a:prstGeom>
          <a:solidFill>
            <a:srgbClr val="E8F2FF"/>
          </a:solidFill>
          <a:ln>
            <a:solidFill>
              <a:srgbClr val="B8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4187952"/>
            <a:ext cx="23774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A84FF"/>
                </a:solidFill>
                <a:latin typeface="Noto Sans JP"/>
              </a:rPr>
              <a:t>Cloud Firestore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617720"/>
            <a:ext cx="23774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23A"/>
                </a:solidFill>
                <a:latin typeface="Noto Sans JP"/>
              </a:rPr>
              <a:t>データの保存
+ セキュリティルール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3291840"/>
            <a:ext cx="2194560" cy="1188720"/>
          </a:xfrm>
          <a:prstGeom prst="roundRect">
            <a:avLst/>
          </a:prstGeom>
          <a:solidFill>
            <a:srgbClr val="E8F2FF"/>
          </a:solidFill>
          <a:ln>
            <a:solidFill>
              <a:srgbClr val="B8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3364992"/>
            <a:ext cx="20116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A84FF"/>
                </a:solidFill>
                <a:latin typeface="Noto Sans JP"/>
              </a:rPr>
              <a:t>Apps 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3794760"/>
            <a:ext cx="20116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23A"/>
                </a:solidFill>
                <a:latin typeface="Noto Sans JP"/>
              </a:rPr>
              <a:t>毎日の自動処理
(バックアップ・進捗書き出し)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0" y="2103120"/>
            <a:ext cx="1920240" cy="914400"/>
          </a:xfrm>
          <a:prstGeom prst="roundRect">
            <a:avLst/>
          </a:prstGeom>
          <a:solidFill>
            <a:srgbClr val="E8F2FF"/>
          </a:solidFill>
          <a:ln>
            <a:solidFill>
              <a:srgbClr val="B8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2176272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A84FF"/>
                </a:solidFill>
                <a:latin typeface="Noto Sans JP"/>
              </a:rPr>
              <a:t>ドライブ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606039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23A"/>
                </a:solidFill>
                <a:latin typeface="Noto Sans JP"/>
              </a:rPr>
              <a:t>バックアップ
進捗報告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60" y="3657600"/>
            <a:ext cx="1920240" cy="914400"/>
          </a:xfrm>
          <a:prstGeom prst="roundRect">
            <a:avLst/>
          </a:prstGeom>
          <a:solidFill>
            <a:srgbClr val="E8F2FF"/>
          </a:solidFill>
          <a:ln>
            <a:solidFill>
              <a:srgbClr val="B8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3730752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A84FF"/>
                </a:solidFill>
                <a:latin typeface="Noto Sans JP"/>
              </a:rPr>
              <a:t>Gmail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416052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23A"/>
                </a:solidFill>
                <a:latin typeface="Noto Sans JP"/>
              </a:rPr>
              <a:t>先生への通知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394960"/>
            <a:ext cx="11338560" cy="914400"/>
          </a:xfrm>
          <a:prstGeom prst="roundRect">
            <a:avLst/>
          </a:prstGeom>
          <a:solidFill>
            <a:srgbClr val="FFF1E0"/>
          </a:solidFill>
          <a:ln>
            <a:solidFill>
              <a:srgbClr val="B8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468112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7A00"/>
                </a:solidFill>
                <a:latin typeface="Noto Sans JP"/>
              </a:rPr>
              <a:t>GitHub 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23A"/>
                </a:solidFill>
                <a:latin typeface="Noto Sans JP"/>
              </a:rPr>
              <a:t>テストして、問題がなければ Hosting とセキュリティルールを公開(手動で実行)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2651760" y="2194560"/>
            <a:ext cx="1005840" cy="457200"/>
          </a:xfrm>
          <a:prstGeom prst="line">
            <a:avLst/>
          </a:prstGeom>
          <a:ln w="25400">
            <a:solidFill>
              <a:srgbClr val="5A6A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651760" y="2743200"/>
            <a:ext cx="1005840" cy="640080"/>
          </a:xfrm>
          <a:prstGeom prst="line">
            <a:avLst/>
          </a:prstGeom>
          <a:ln w="25400">
            <a:solidFill>
              <a:srgbClr val="5A6A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651760" y="3017520"/>
            <a:ext cx="1005840" cy="1554480"/>
          </a:xfrm>
          <a:prstGeom prst="line">
            <a:avLst/>
          </a:prstGeom>
          <a:ln w="25400">
            <a:solidFill>
              <a:srgbClr val="5A6A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240280" y="350215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A85"/>
                </a:solidFill>
                <a:latin typeface="Noto Sans JP"/>
              </a:rPr>
              <a:t>直接読み書き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6217920" y="4023360"/>
            <a:ext cx="1280159" cy="548640"/>
          </a:xfrm>
          <a:prstGeom prst="line">
            <a:avLst/>
          </a:prstGeom>
          <a:ln w="25400">
            <a:solidFill>
              <a:srgbClr val="5A6A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943600" y="40050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A85"/>
                </a:solidFill>
                <a:latin typeface="Noto Sans JP"/>
              </a:rPr>
              <a:t>先生の権限で読む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9692640" y="2651760"/>
            <a:ext cx="274320" cy="1005840"/>
          </a:xfrm>
          <a:prstGeom prst="line">
            <a:avLst/>
          </a:prstGeom>
          <a:ln w="25400">
            <a:solidFill>
              <a:srgbClr val="5A6A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692640" y="4023360"/>
            <a:ext cx="274320" cy="91440"/>
          </a:xfrm>
          <a:prstGeom prst="line">
            <a:avLst/>
          </a:prstGeom>
          <a:ln w="25400">
            <a:solidFill>
              <a:srgbClr val="5A6A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" y="489204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85"/>
                </a:solidFill>
                <a:latin typeface="Noto Sans JP"/>
              </a:rPr>
              <a:t>※ Cloud Functions・Storage は使わない(無料プランで運用)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技術の説明 — 使っている技術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85"/>
                </a:solidFill>
                <a:latin typeface="Noto Sans JP"/>
              </a:rPr>
              <a:t>小さく、無料で、長く動かせることを優先して選んでいます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737360" cy="731520"/>
          </a:xfrm>
          <a:prstGeom prst="round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737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画面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188720"/>
            <a:ext cx="9326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React 18 + TypeScript(厳密モード)+ Vite。UIライブラリは使わず、素のCSS。日本語UI、PC優先でスマホにも対応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737360" cy="731520"/>
          </a:xfrm>
          <a:prstGeom prst="round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1737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データ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057400"/>
            <a:ext cx="9326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Cloud Firestore(リアルタイムに更新)。サーバーを挟まず、画面から直接読み書きする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26080"/>
            <a:ext cx="1737360" cy="731520"/>
          </a:xfrm>
          <a:prstGeom prst="round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26080"/>
            <a:ext cx="1737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ログイン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926080"/>
            <a:ext cx="9326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Firebase Authentication の Google ログインのみ。学校のメールで、名簿(roster)に載っている人だけが入れる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94759"/>
            <a:ext cx="1737360" cy="731520"/>
          </a:xfrm>
          <a:prstGeom prst="round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94759"/>
            <a:ext cx="1737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出力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794759"/>
            <a:ext cx="9326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Excel(ExcelJS)・PDF(印刷)・CSV。企業に出せる進捗報告書を、画面から作れる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63440"/>
            <a:ext cx="1737360" cy="731520"/>
          </a:xfrm>
          <a:prstGeom prst="round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63440"/>
            <a:ext cx="1737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自動処理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663440"/>
            <a:ext cx="9326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Google Apps Script。毎日のバックアップ、Excel・PDFの進捗書き出し(ドライブへ)、先生への通知(Gmail)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32120"/>
            <a:ext cx="1737360" cy="731520"/>
          </a:xfrm>
          <a:prstGeom prst="round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532120"/>
            <a:ext cx="1737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公開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532120"/>
            <a:ext cx="9326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Firebase Hosting。GitHub Actions で、テストに通ったものだけを公開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技術の説明 — データとセキュリティ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85"/>
                </a:solidFill>
                <a:latin typeface="Noto Sans JP"/>
              </a:rPr>
              <a:t>守りの本体は、サーバーではなく Firestore のセキュリティルールです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280160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8872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A84FF"/>
                </a:solidFill>
                <a:latin typeface="Noto Sans JP"/>
              </a:rPr>
              <a:t>入れる人を限る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188720"/>
            <a:ext cx="79552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学校のGoogleアカウントで、メールが確認済みで、名簿にある人だけ。名簿にない人は、ログインしてもデータを読めない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04288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212848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A84FF"/>
                </a:solidFill>
                <a:latin typeface="Noto Sans JP"/>
              </a:rPr>
              <a:t>役割で分ける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212848"/>
            <a:ext cx="79552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学生は自分のチームだけ。先生は全チームを見られる。キックオフ前の叩き台や名簿など、先生だけが読み書きできるデータがある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328416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36976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A84FF"/>
                </a:solidFill>
                <a:latin typeface="Noto Sans JP"/>
              </a:rPr>
              <a:t>個人情報を絞る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236976"/>
            <a:ext cx="79552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メールアドレスは名簿にだけ置き、ほかのデータは学生ID(A1〜H4)で参照する。他人のメールは読めない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352544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261104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A84FF"/>
                </a:solidFill>
                <a:latin typeface="Noto Sans JP"/>
              </a:rPr>
              <a:t>消えにくくする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261104"/>
            <a:ext cx="79552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毎日バックアップをドライブへ。先生は、過去の状態から復元できる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376672"/>
            <a:ext cx="384048" cy="38404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285232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A84FF"/>
                </a:solidFill>
                <a:latin typeface="Noto Sans JP"/>
              </a:rPr>
              <a:t>試して守る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285232"/>
            <a:ext cx="79552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23A"/>
                </a:solidFill>
                <a:latin typeface="Noto Sans JP"/>
              </a:rPr>
              <a:t>ルールそのものを、エミュレータで自動テストしている。変えるたびに、破られないかを確かめる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技術の説明 — 開発と運用の仕組み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85"/>
                </a:solidFill>
                <a:latin typeface="Noto Sans JP"/>
              </a:rPr>
              <a:t>作ったあとも、壊れずに直し続けられるようにしています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657600" cy="4937760"/>
          </a:xfrm>
          <a:prstGeom prst="roundRect">
            <a:avLst/>
          </a:prstGeom>
          <a:solidFill>
            <a:srgbClr val="E8F2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A84FF"/>
                </a:solidFill>
                <a:latin typeface="Noto Sans JP"/>
              </a:rPr>
              <a:t>3種類の自動テスト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2918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23A"/>
                </a:solidFill>
                <a:latin typeface="Noto Sans JP"/>
              </a:rPr>
              <a:t>・関数の単体テスト(Vitest)
・セキュリティルールのテスト(Firestoreエミュレータ)
・画面の通しテスト(Playwright)
この画面の操作マニュアルと動画も、同じ仕組みで自動で撮影・生成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657600" cy="4937760"/>
          </a:xfrm>
          <a:prstGeom prst="roundRect">
            <a:avLst/>
          </a:prstGeom>
          <a:solidFill>
            <a:srgbClr val="E8F2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41732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A84FF"/>
                </a:solidFill>
                <a:latin typeface="Noto Sans JP"/>
              </a:rPr>
              <a:t>公開の流れ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03120"/>
            <a:ext cx="32918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23A"/>
                </a:solidFill>
                <a:latin typeface="Noto Sans JP"/>
              </a:rPr>
              <a:t>1. 変更を保存(GitHub)
2. 型チェック・テスト・ビルド
3. すべて通ったら、Hosting とルールを公開
通らなければ、公開されない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80160"/>
            <a:ext cx="3657600" cy="4937760"/>
          </a:xfrm>
          <a:prstGeom prst="roundRect">
            <a:avLst/>
          </a:prstGeom>
          <a:solidFill>
            <a:srgbClr val="E8F2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41732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A84FF"/>
                </a:solidFill>
                <a:latin typeface="Noto Sans JP"/>
              </a:rPr>
              <a:t>無料枠で回す工夫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03120"/>
            <a:ext cx="32918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23A"/>
                </a:solidFill>
                <a:latin typeface="Noto Sans JP"/>
              </a:rPr>
              <a:t>・読み取り回数を減らす(バックアップは軽い版を毎日、フル版は週1回)
・Cloud Functions を使わず、定期処理は Apps Script
・データは小さく保つ(動画や録音は置かない)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運用の注意 — 無料枠と、数の見方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85"/>
                </a:solidFill>
                <a:latin typeface="Noto Sans JP"/>
              </a:rPr>
              <a:t>無料のプラン(Spark)で運用しています。上限と、数の読み方を知っておくと安心です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3657600" cy="4480560"/>
          </a:xfrm>
          <a:prstGeom prst="roundRect">
            <a:avLst/>
          </a:prstGeom>
          <a:solidFill>
            <a:srgbClr val="E8F2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A84FF"/>
                </a:solidFill>
                <a:latin typeface="Noto Sans JP"/>
              </a:rPr>
              <a:t>Firestoreの無料枠(1日)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32918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23A"/>
                </a:solidFill>
                <a:latin typeface="Noto Sans JP"/>
              </a:rPr>
              <a:t>・読み取り 5万回
・書き込み 2万回
・削除 2万回
(日本時間の午後4〜5時台に、1日が切り替わる)
超えると、その日の分は読み書きが止まる(課金はされない)。読み取りは、ドキュメント1件で1回。データの大きさは関係しない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737360"/>
            <a:ext cx="3657600" cy="4480560"/>
          </a:xfrm>
          <a:prstGeom prst="roundRect">
            <a:avLst/>
          </a:prstGeom>
          <a:solidFill>
            <a:srgbClr val="E8F2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874519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A84FF"/>
                </a:solidFill>
                <a:latin typeface="Noto Sans JP"/>
              </a:rPr>
              <a:t>読み取りを増やす操作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560320"/>
            <a:ext cx="32918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23A"/>
                </a:solidFill>
                <a:latin typeface="Noto Sans JP"/>
              </a:rPr>
              <a:t>・利用状況の「全チームを読み込んで比べる」(学期が進むと1回で1万回ほど)
・ダッシュボードの「最新にする」(約500回)
・利用状況でチームを「すべて」にする
ダッシュボードを開くだけなら、チームごとの「集計」(1件)を読むだけで、読み取りは少ない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737360"/>
            <a:ext cx="3657600" cy="4480560"/>
          </a:xfrm>
          <a:prstGeom prst="roundRect">
            <a:avLst/>
          </a:prstGeom>
          <a:solidFill>
            <a:srgbClr val="E8F2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74519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A84FF"/>
                </a:solidFill>
                <a:latin typeface="Noto Sans JP"/>
              </a:rPr>
              <a:t>関与・貢献の数の見方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560320"/>
            <a:ext cx="32918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23A"/>
                </a:solidFill>
                <a:latin typeface="Noto Sans JP"/>
              </a:rPr>
              <a:t>・点数や順位は、つけない
・数は関与の目安。内容の質は、作業ログや成果物で確かめる
・変更履歴は10/24に記録が始まった。それ以前の変更は含まない
・ハード系は機材の待ち時間があり、ソフト系と進み方が違う
・CSVで書き出して、成績や面談の資料に使える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困ったとき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84FF"/>
                </a:solidFill>
                <a:latin typeface="Noto Sans JP"/>
              </a:rPr>
              <a:t>ダッシュボードの数が、実際と合わない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23A"/>
                </a:solidFill>
                <a:latin typeface="Noto Sans JP"/>
              </a:rPr>
              <a:t>ダッシュボードの「最新にする」を押すと、全チームのタスクから数を作り直します。チーム詳細を開いても、そのチームの数が直ります。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93391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84FF"/>
                </a:solidFill>
                <a:latin typeface="Noto Sans JP"/>
              </a:rPr>
              <a:t>キックオフをやり直したい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40863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23A"/>
                </a:solidFill>
                <a:latin typeface="Noto Sans JP"/>
              </a:rPr>
              <a:t>チームのキックオフ画面で「最初からやり直す」にチェックを入れて、「消して、最初から作り直す」を押します。いまのタスク・作業ログ・変更履歴・議事録などが消えるので、件数の内訳を確認してくださ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8950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84FF"/>
                </a:solidFill>
                <a:latin typeface="Noto Sans JP"/>
              </a:rPr>
              <a:t>叩き台を直した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3697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23A"/>
                </a:solidFill>
                <a:latin typeface="Noto Sans JP"/>
              </a:rPr>
              <a:t>設定の「叩き台の登録」で、同じチーム・案を、もう一度登録します(置き換わります)。キックオフ済みのチームには、反映されません。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85615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84FF"/>
                </a:solidFill>
                <a:latin typeface="Noto Sans JP"/>
              </a:rPr>
              <a:t>Firestoreの読み取りが多い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33087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23A"/>
                </a:solidFill>
                <a:latin typeface="Noto Sans JP"/>
              </a:rPr>
              <a:t>無料枠は1日5万回です。コンソールの時間帯を見て、授業中なら学生と教員の画面、夜間〜早朝ならバックアップ・進捗報告の書き出しを疑います。利用状況の「全チームを読み込んで比べる」と、ダッシュボードの「最新にする」は、読み取りが多いので、必要なときだけにしてくださ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81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84FF"/>
                </a:solidFill>
                <a:latin typeface="Noto Sans JP"/>
              </a:rPr>
              <a:t>学生が作業ログを出せない・画面が古い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23A"/>
                </a:solidFill>
                <a:latin typeface="Noto Sans JP"/>
              </a:rPr>
              <a:t>学生には、再読み込みをお願いします。「権限がありません」と出たら、名簿の確認が必要です(設定の名簿)。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84FF"/>
                </a:solidFill>
                <a:latin typeface="Noto Sans JP"/>
              </a:rPr>
              <a:t>成績の資料にしたい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2531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23A"/>
                </a:solidFill>
                <a:latin typeface="Noto Sans JP"/>
              </a:rPr>
              <a:t>利用状況の「関与・貢献の分析」で、期間を選び、「CSVで書き出す」。点数や順位は出さないので、内容の質は作業ログや成果物で確かめてください。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